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latin typeface="Aptos Display"/>
              </a:defRPr>
            </a:pPr>
            <a:r>
              <a:t>AI-Based Vitiligo Image Analysis and</a:t>
            </a:r>
            <a:br/>
            <a:r>
              <a:t>Candidate Light-Region Estimation Using Image Processing</a:t>
            </a:r>
          </a:p>
          <a:p>
            <a:pPr algn="ctr">
              <a:spcBef>
                <a:spcPts val="1800"/>
              </a:spcBef>
              <a:defRPr sz="1900">
                <a:latin typeface="Aptos"/>
              </a:defRPr>
            </a:pPr>
            <a:r>
              <a:t>An Educational Image-Processing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77639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Aptos"/>
              </a:defRPr>
            </a:pPr>
            <a:r>
              <a:t>B.Tech – Artificial Intelligence &amp; Data Science</a:t>
            </a:r>
          </a:p>
          <a:p>
            <a:pPr algn="ctr">
              <a:defRPr sz="1600">
                <a:latin typeface="Aptos"/>
              </a:defRPr>
            </a:pPr>
            <a:r>
              <a:t>Academic Project – 2026–2027</a:t>
            </a:r>
          </a:p>
          <a:p>
            <a:pPr algn="ctr">
              <a:defRPr sz="1800" b="1">
                <a:latin typeface="Aptos"/>
              </a:defRPr>
            </a:pPr>
            <a:r>
              <a:t>Presented by: Shaik Bibi Arthika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latin typeface="Aptos"/>
              </a:defRPr>
            </a:pPr>
            <a:r>
              <a:t>• Vitiligo is associated with lighter regions appearing on the skin.</a:t>
            </a:r>
          </a:p>
          <a:p>
            <a:pPr>
              <a:spcAft>
                <a:spcPts val="1200"/>
              </a:spcAft>
              <a:defRPr sz="1900">
                <a:latin typeface="Aptos"/>
              </a:defRPr>
            </a:pPr>
            <a:r>
              <a:t>• Manually observing and comparing such regions in multiple images can be difficult.</a:t>
            </a:r>
          </a:p>
          <a:p>
            <a:pPr>
              <a:spcAft>
                <a:spcPts val="1200"/>
              </a:spcAft>
              <a:defRPr sz="1900">
                <a:latin typeface="Aptos"/>
              </a:defRPr>
            </a:pPr>
            <a:r>
              <a:t>• This project presents an educational image-processing prototype for candidate light-region analysis.</a:t>
            </a:r>
          </a:p>
          <a:p>
            <a:pPr>
              <a:spcAft>
                <a:spcPts val="1200"/>
              </a:spcAft>
              <a:defRPr sz="1900">
                <a:latin typeface="Aptos"/>
              </a:defRPr>
            </a:pPr>
            <a:r>
              <a:t>• The system uses Python, OpenCV, NumPy, Pillow, Pandas, and Streamlit.</a:t>
            </a:r>
          </a:p>
          <a:p>
            <a:pPr>
              <a:spcAft>
                <a:spcPts val="1200"/>
              </a:spcAft>
              <a:defRPr sz="1900">
                <a:latin typeface="Aptos"/>
              </a:defRPr>
            </a:pPr>
            <a:r>
              <a:t>• It provides numerical and visual outputs for project demonstration.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2. Problem Statement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0352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44168"/>
            <a:ext cx="4974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801368"/>
            <a:ext cx="497433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ptos"/>
              </a:defRPr>
            </a:pPr>
            <a:r>
              <a:t>Manually observing and comparing light regions in skin images can be difficult and time-consuming.</a:t>
            </a:r>
            <a:br/>
            <a:br/>
            <a:r>
              <a:t>The prototype aims to analyze images, identify candidate light regions, estimate their relative area, count detected regions, and compare multiple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344168"/>
            <a:ext cx="4974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F4E79"/>
                </a:solidFill>
              </a:defRPr>
            </a:pPr>
            <a:r>
              <a:t>Key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1" y="1801368"/>
            <a:ext cx="497433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ptos"/>
              </a:defRPr>
            </a:pPr>
            <a:r>
              <a:t>1. Accept skin images through a web interface.</a:t>
            </a:r>
            <a:br/>
            <a:r>
              <a:t>2. Preprocess images using OpenCV.</a:t>
            </a:r>
            <a:br/>
            <a:r>
              <a:t>3. Detect candidate light regions.</a:t>
            </a:r>
            <a:br/>
            <a:r>
              <a:t>4. Estimate relative candidate area.</a:t>
            </a:r>
            <a:br/>
            <a:r>
              <a:t>5. Count candidate regions.</a:t>
            </a:r>
            <a:br/>
            <a:r>
              <a:t>6. Compare up to three images.</a:t>
            </a:r>
            <a:br/>
            <a:r>
              <a:t>7. Visualize results and generate a report.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3. System Architecture</a:t>
            </a:r>
          </a:p>
        </p:txBody>
      </p:sp>
      <p:pic>
        <p:nvPicPr>
          <p:cNvPr id="3" name="Picture 2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5349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4. Image Processing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25272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1. Image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70992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Upload 1–3 JPG/JPEG/PNG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25272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2.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70992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Resize each image to 224 × 224.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7744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8716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3. Color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4436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Use HSV and grayscale representations.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48716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4. Skin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94436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Create a skin-region mask.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72160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5. Light-Region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17880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Analyze local brightness differences.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1188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72160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6. Noise Removal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17880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Apply morphological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4632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95604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7. Contour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41324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Find candidate region contours.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846320"/>
            <a:ext cx="5440680" cy="1024128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956048"/>
            <a:ext cx="5111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F4E79"/>
                </a:solidFill>
              </a:defRPr>
            </a:pPr>
            <a:r>
              <a:t>8. Area &amp;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413248"/>
            <a:ext cx="5111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ptos"/>
              </a:defRPr>
            </a:pPr>
            <a:r>
              <a:t>Estimate area percentage and region count.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5. 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35607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92807"/>
            <a:ext cx="3191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ptos"/>
              </a:defRPr>
            </a:pPr>
            <a:r>
              <a:t>Main programming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5204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435607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OpenCV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892807"/>
            <a:ext cx="3191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ptos"/>
              </a:defRPr>
            </a:pPr>
            <a:r>
              <a:t>Image reading, resizing, masking, morphology, contours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5204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435607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892807"/>
            <a:ext cx="3191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ptos"/>
              </a:defRPr>
            </a:pPr>
            <a:r>
              <a:t>Image arrays and numerical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35204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538728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Pillow (PIL)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95928"/>
            <a:ext cx="3191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ptos"/>
              </a:defRPr>
            </a:pPr>
            <a:r>
              <a:t>Uploaded image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429000"/>
            <a:ext cx="35204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3538728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995928"/>
            <a:ext cx="3191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ptos"/>
              </a:defRPr>
            </a:pPr>
            <a:r>
              <a:t>Comparison table and result organization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29000"/>
            <a:ext cx="35204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538728"/>
            <a:ext cx="3191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995928"/>
            <a:ext cx="3191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Aptos"/>
              </a:defRPr>
            </a:pPr>
            <a:r>
              <a:t>Interactive web interface and report download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6.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44168"/>
            <a:ext cx="103692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F4E79"/>
                </a:solidFill>
              </a:defRPr>
            </a:pPr>
            <a:r>
              <a:t>Prototype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01368"/>
            <a:ext cx="1036929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Aptos"/>
              </a:defRPr>
            </a:pPr>
            <a:r>
              <a:t>image3.jpg   →   Estimated Candidate Area: 2.27%   |   Candidate Regions: 10</a:t>
            </a:r>
            <a:br/>
            <a:br/>
            <a:r>
              <a:t>image4.jpg   →   Estimated Candidate Area: 4.51%   |   Candidate Regions: 10</a:t>
            </a:r>
            <a:br/>
            <a:br/>
            <a:r>
              <a:t>image5.jpg   →   Estimated Candidate Area: 7.12%   |   Candidate Regions: 10</a:t>
            </a:r>
            <a:br/>
            <a:br/>
            <a:r>
              <a:t>The values are algorithm-generated candidate outputs for educational/project demonstration purposes.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7. Streamlit User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30352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98448"/>
            <a:ext cx="4974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F4E79"/>
                </a:solidFill>
              </a:defRPr>
            </a:pPr>
            <a: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55648"/>
            <a:ext cx="497433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ptos"/>
              </a:defRPr>
            </a:pPr>
            <a:r>
              <a:t>• Upload up to three images</a:t>
            </a:r>
            <a:br/>
            <a:r>
              <a:t>• View original and highlighted results</a:t>
            </a:r>
            <a:br/>
            <a:r>
              <a:t>• Candidate area percentage</a:t>
            </a:r>
            <a:br/>
            <a:r>
              <a:t>• Candidate region count</a:t>
            </a:r>
            <a:br/>
            <a:r>
              <a:t>• Comparison table</a:t>
            </a:r>
            <a:br/>
            <a:r>
              <a:t>• Bar chart visualization</a:t>
            </a:r>
            <a:br/>
            <a:r>
              <a:t>• Downloadable text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298448"/>
            <a:ext cx="4974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F4E79"/>
                </a:solidFill>
              </a:defRPr>
            </a:pPr>
            <a:r>
              <a:t>Project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1755648"/>
            <a:ext cx="497433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ptos"/>
              </a:defRPr>
            </a:pPr>
            <a:r>
              <a:t>The application combines image processing with a simple web interface so that the workflow can be demonstrated easily during a project presentation or viva.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8. Advantages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9496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44168"/>
            <a:ext cx="5065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F4E79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801368"/>
            <a:ext cx="50657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ptos"/>
              </a:defRPr>
            </a:pPr>
            <a:r>
              <a:t>• Simple interface</a:t>
            </a:r>
            <a:br/>
            <a:r>
              <a:t>• Multiple-image comparison</a:t>
            </a:r>
            <a:br/>
            <a:r>
              <a:t>• Numerical candidate-area output</a:t>
            </a:r>
            <a:br/>
            <a:r>
              <a:t>• Region counting</a:t>
            </a:r>
            <a:br/>
            <a:r>
              <a:t>• Visual comparison chart</a:t>
            </a:r>
            <a:br/>
            <a:r>
              <a:t>• Downloadable report</a:t>
            </a:r>
            <a:br/>
            <a:r>
              <a:t>• Uses common Python libraries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344168"/>
            <a:ext cx="5065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F4E79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1801368"/>
            <a:ext cx="50657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Aptos"/>
              </a:defRPr>
            </a:pPr>
            <a:r>
              <a:t>• Not a medical diagnostic tool</a:t>
            </a:r>
            <a:br/>
            <a:r>
              <a:t>• Results depend on lighting and image quality</a:t>
            </a:r>
            <a:br/>
            <a:r>
              <a:t>• Threshold-based processing may produce false candidate regions</a:t>
            </a:r>
            <a:br/>
            <a:r>
              <a:t>• Current dataset is limited</a:t>
            </a:r>
            <a:br/>
            <a:r>
              <a:t>• Percentages are not clinical measurements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9. Future Scope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48640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252728"/>
            <a:ext cx="51572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709928"/>
            <a:ext cx="5157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Aptos"/>
              </a:defRPr>
            </a:pPr>
            <a:r>
              <a:t>• Larger and more diverse datasets</a:t>
            </a:r>
            <a:br/>
            <a:r>
              <a:t>• Clinically validated annotated data</a:t>
            </a:r>
            <a:br/>
            <a:r>
              <a:t>• Machine learning / deep learning models</a:t>
            </a:r>
            <a:br/>
            <a:r>
              <a:t>• More accurate segmentation</a:t>
            </a:r>
            <a:br/>
            <a:r>
              <a:t>• Better handling of lighting variation</a:t>
            </a:r>
            <a:br/>
            <a:r>
              <a:t>• Image-quality checking</a:t>
            </a:r>
            <a:br/>
            <a:r>
              <a:t>• Proper evaluation metrics</a:t>
            </a:r>
            <a:br/>
            <a:r>
              <a:t>• Validation with qualified medical professionals before clinical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25780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252728"/>
            <a:ext cx="4928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709928"/>
            <a:ext cx="49286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ptos"/>
              </a:defRPr>
            </a:pPr>
            <a:r>
              <a:t>The project demonstrates an educational computer-vision workflow for analyzing skin images, identifying candidate light regions, estimating relative area, counting regions, comparing images, and generating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10. Important Disclaimer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0332720" cy="3566160"/>
          </a:xfrm>
          <a:prstGeom prst="roundRect">
            <a:avLst/>
          </a:prstGeom>
          <a:solidFill>
            <a:srgbClr val="FFF5F5"/>
          </a:solidFill>
          <a:ln>
            <a:solidFill>
              <a:srgbClr val="BE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83080"/>
            <a:ext cx="9692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/>
            </a:pPr>
            <a:r>
              <a:t>This project is an educational image-processing prototype.</a:t>
            </a:r>
          </a:p>
          <a:p>
            <a:pPr algn="ctr">
              <a:spcBef>
                <a:spcPts val="1800"/>
              </a:spcBef>
              <a:defRPr sz="1800"/>
            </a:pPr>
            <a:r>
              <a:t>The detected regions and percentages are algorithmic outputs for demonstration.</a:t>
            </a:r>
          </a:p>
          <a:p>
            <a:pPr algn="ctr">
              <a:spcBef>
                <a:spcPts val="1800"/>
              </a:spcBef>
              <a:defRPr sz="1800"/>
            </a:pPr>
            <a:r>
              <a:t>They are NOT clinical measurements, medical diagnoses, or medical advice.</a:t>
            </a:r>
          </a:p>
          <a:p>
            <a:pPr algn="ctr">
              <a:spcBef>
                <a:spcPts val="1800"/>
              </a:spcBef>
              <a:defRPr sz="1800"/>
            </a:pPr>
            <a:r>
              <a:t>The system should not be used to make healthcare or treatment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/>
            </a:pPr>
            <a:r>
              <a:t>Questions &amp; Discussion</a:t>
            </a:r>
          </a:p>
          <a:p>
            <a:pPr algn="ctr">
              <a:spcBef>
                <a:spcPts val="3000"/>
              </a:spcBef>
              <a:defRPr sz="1800"/>
            </a:pPr>
            <a:r>
              <a:t>Presented by: Shaik Bibi Arthika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AI-Based Vitiligo Image Analysis • Educational Prototype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